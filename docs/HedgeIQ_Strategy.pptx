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00D4FF"/>
                </a:solidFill>
              </a:rPr>
              <a:t>HedgeIQ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EAF0"/>
                </a:solidFill>
              </a:rPr>
              <a:t>Full Product Vision &amp; Execution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CA3AF"/>
                </a:solidFill>
              </a:rPr>
              <a:t>From a $2,355 Sunday-night loss  →  A $10M+ White-Label Trading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</a:rPr>
              <a:t>April 2026  |  Prepared by Claude Sonnet (AI Architect)  |  For: Sankar, Founder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344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0"/>
                </a:solidFill>
              </a:rPr>
              <a:t>Where We Are — v0.1 Complete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4883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0"/>
                </a:solidFill>
              </a:rPr>
              <a:t>The Full Vision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6323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0"/>
                </a:solidFill>
              </a:rPr>
              <a:t>6-Phase Execution 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7763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0"/>
                </a:solidFill>
              </a:rPr>
              <a:t>Full 18-Month Timeline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8920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0"/>
                </a:solidFill>
              </a:rPr>
              <a:t>Cost &amp; Investment Breakdown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188720"/>
            <a:ext cx="457200" cy="4572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12344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0"/>
                </a:solidFill>
              </a:rPr>
              <a:t>Brokerage Expansion Roadmap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103120"/>
            <a:ext cx="457200" cy="4572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14883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0"/>
                </a:solidFill>
              </a:rPr>
              <a:t>The AI Autonomous Architect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017520"/>
            <a:ext cx="457200" cy="4572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06323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0"/>
                </a:solidFill>
              </a:rPr>
              <a:t>First Principles Risk Assessment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931920"/>
            <a:ext cx="457200" cy="4572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97763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0"/>
                </a:solidFill>
              </a:rPr>
              <a:t>Technology Stack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846320"/>
            <a:ext cx="457200" cy="4572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8920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0"/>
                </a:solidFill>
              </a:rPr>
              <a:t>Next Steps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HedgeIQ Confidential Strategy  |  April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01  Where We Are — v0.1 Complete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solidFill>
            <a:srgbClr val="00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88"/>
                </a:solidFill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6984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F0"/>
                </a:solidFill>
              </a:rPr>
              <a:t>FastAPI backend — DDD architecture, facade + adapter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solidFill>
            <a:srgbClr val="00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88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773936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F0"/>
                </a:solidFill>
              </a:rPr>
              <a:t>SnapTrade broker connectivity — Robinhood, Fidelity, IBKR, Public (live)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384048" cy="384048"/>
          </a:xfrm>
          <a:prstGeom prst="rect">
            <a:avLst/>
          </a:prstGeom>
          <a:solidFill>
            <a:srgbClr val="00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597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88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78024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F0"/>
                </a:solidFill>
              </a:rPr>
              <a:t>Polygon.io options chain — rate limiting, 1h ChromaDB cache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63824"/>
            <a:ext cx="384048" cy="384048"/>
          </a:xfrm>
          <a:prstGeom prst="rect">
            <a:avLst/>
          </a:prstGeom>
          <a:solidFill>
            <a:srgbClr val="00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638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88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8211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F0"/>
                </a:solidFill>
              </a:rPr>
              <a:t>Claude Haiku AI explanations — 24h cache, $0.01/call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67912"/>
            <a:ext cx="384048" cy="384048"/>
          </a:xfrm>
          <a:prstGeom prst="rect">
            <a:avLst/>
          </a:prstGeom>
          <a:solidFill>
            <a:srgbClr val="00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679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88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8620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F0"/>
                </a:solidFill>
              </a:rPr>
              <a:t>React 19 frontend — Vite, Tailwind CSS v4, dark trading 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384048" cy="384048"/>
          </a:xfrm>
          <a:prstGeom prst="rect">
            <a:avLst/>
          </a:prstGeom>
          <a:solidFill>
            <a:srgbClr val="00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88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9028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F0"/>
                </a:solidFill>
              </a:rPr>
              <a:t>121 tests passing — unit, integration, component, Playwright E2E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76088"/>
            <a:ext cx="384048" cy="384048"/>
          </a:xfrm>
          <a:prstGeom prst="rect">
            <a:avLst/>
          </a:prstGeom>
          <a:solidFill>
            <a:srgbClr val="00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2760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88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94375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F0"/>
                </a:solidFill>
              </a:rPr>
              <a:t>Docker + Railway + Vercel — production deploy config 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D4FF"/>
                </a:solidFill>
              </a:rPr>
              <a:t>Foundation quality: production-ready. No rewrites needed for any phase below.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HedgeIQ Confidential Strategy  |  April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02  The Full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651760" cy="43891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65176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WHITE-LABEL
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Any trading firm, advisor,
or community runs HedgeIQ
under their own brand
&amp; domain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651760" cy="43891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1097280"/>
            <a:ext cx="2651760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280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MASTER TRADING
INTELLIGENCE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24028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Anonymised patterns from
every trade on the platform.
Learns. Gets smarter.
The data moat.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97280"/>
            <a:ext cx="2651760" cy="43891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280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A00"/>
                </a:solidFill>
              </a:rPr>
              <a:t>SOCIAL TRADING
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24028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Trade feed, leaderboards,
strategy sharing.
Network effects.
Community intelligence.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097280"/>
            <a:ext cx="2651760" cy="43891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0" y="1097280"/>
            <a:ext cx="2651760" cy="73152"/>
          </a:xfrm>
          <a:prstGeom prst="rect">
            <a:avLst/>
          </a:prstGeom>
          <a:solidFill>
            <a:srgbClr val="AA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280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88FF"/>
                </a:solidFill>
              </a:rPr>
              <a:t>EVERY
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24028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Web · iOS · Android
Mac · Windows · iPad
One backend.
All devices.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CA3AF"/>
                </a:solidFill>
              </a:rPr>
              <a:t>Built on the v0.1 foundation. No rewrites. Incremental phases.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</a:rPr>
              <a:t>Target: $10M+ ARR platform opportunity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HedgeIQ Confidential Strategy  |  April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02  Business Model — Four Revenue Streams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11430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8EAF0"/>
                </a:solidFill>
              </a:rPr>
              <a:t>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White-Label Licence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459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$499–$2,999/mo per 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25880"/>
            <a:ext cx="667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Monthly fee per brand using the platform. 10 partners = $30K MRR.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11247120" cy="11430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8EAF0"/>
                </a:solidFill>
              </a:rP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End-User 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$29–$99/user/mo (20% rev share)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51760"/>
            <a:ext cx="667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Partners charge their users. HedgeIQ takes 20%. Scales with partner growth.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1247120" cy="11430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5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8EAF0"/>
                </a:solidFill>
              </a:rPr>
              <a:t>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8404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Intelligence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$0.10 per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977639"/>
            <a:ext cx="667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Partners and institutions query the Master DB for signals and patterns.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74920"/>
            <a:ext cx="11247120" cy="11430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8EAF0"/>
                </a:solidFill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1663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Data Licensing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6235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Custom — $50K–$500K/yr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303520"/>
            <a:ext cx="667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Sell anonymised aggregate signals to hedge funds and institutions.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HedgeIQ Confidential Strategy  |  April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03  6-Phase Execution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3474720" cy="22860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4747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AF0"/>
                </a:solidFill>
              </a:rPr>
              <a:t>Multi-Tenant
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Months 1–4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097280"/>
            <a:ext cx="3474720" cy="22860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097280"/>
            <a:ext cx="3474720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2344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F88"/>
                </a:solidFill>
              </a:rPr>
              <a:t>v2.0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600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AF0"/>
                </a:solidFill>
              </a:rPr>
              <a:t>Mobile &amp;
Desktop 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34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Months 3–6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097280"/>
            <a:ext cx="3474720" cy="22860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097280"/>
            <a:ext cx="3474720" cy="7315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2344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AA00"/>
                </a:solidFill>
              </a:rPr>
              <a:t>v3.0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1600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AF0"/>
                </a:solidFill>
              </a:rPr>
              <a:t>Master Trading
Intelligence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834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Months 5–10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57600"/>
            <a:ext cx="3474720" cy="22860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3474720" cy="73152"/>
          </a:xfrm>
          <a:prstGeom prst="rect">
            <a:avLst/>
          </a:prstGeom>
          <a:solidFill>
            <a:srgbClr val="AA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94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88FF"/>
                </a:solidFill>
              </a:rPr>
              <a:t>v4.0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AF0"/>
                </a:solidFill>
              </a:rPr>
              <a:t>Social Trading
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94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Months 9–14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3657600"/>
            <a:ext cx="3474720" cy="22860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3657600"/>
            <a:ext cx="3474720" cy="73152"/>
          </a:xfrm>
          <a:prstGeom prst="rect">
            <a:avLst/>
          </a:prstGeom>
          <a:solidFill>
            <a:srgbClr val="FF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3794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88"/>
                </a:solidFill>
              </a:rPr>
              <a:t>v5.0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160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AF0"/>
                </a:solidFill>
              </a:rPr>
              <a:t>HA / DR /
Enterprise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394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Months 12–18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3657600"/>
            <a:ext cx="3474720" cy="22860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80" y="3657600"/>
            <a:ext cx="3474720" cy="73152"/>
          </a:xfrm>
          <a:prstGeom prst="rect">
            <a:avLst/>
          </a:prstGeom>
          <a:solidFill>
            <a:srgbClr val="88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3794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FFCC"/>
                </a:solidFill>
              </a:rPr>
              <a:t>v6.0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160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AF0"/>
                </a:solidFill>
              </a:rPr>
              <a:t>White-Label
&amp; Global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5394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Months 15–24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HedgeIQ Confidential Strategy  |  April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D4FF"/>
                </a:solidFill>
              </a:rPr>
              <a:t>v1.0  Multi-Tenant Foundation  (Months 1–4)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What gets built: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• PostgreSQL replacing SQLite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3055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• Full user auth (registration, email verify, JWT refresh)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43784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• Tenant model — each white-label partner isolated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57015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• Stripe billing — plans, trials, usage metering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7024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• Admin dashboard — tenant &amp; revenue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834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• API rate limiting per plan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005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Key details: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• React Native mobile app (iOS + Android)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3055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• Shared codebase with web 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43784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• Push notifications — trade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57015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• 12–15 sessions to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7024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• Infra cost added: ~$50/mo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9834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• Sessions required: 12–15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35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D4FF"/>
                </a:solidFill>
              </a:rPr>
              <a:t>Outcome: HedgeIQ becomes a proper multi-tenant SaaS. First paying white-label partner can onboard.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HedgeIQ Confidential Strategy  |  April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AA00"/>
                </a:solidFill>
              </a:rPr>
              <a:t>v3.0  Master Trading Intelligence DB  (Months 5–10)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</a:rPr>
              <a:t>The data moat — the asset no competitor can replicate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474720" cy="201168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AA00"/>
                </a:solidFill>
              </a:rPr>
              <a:t>Month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FF88"/>
                </a:solidFill>
              </a:rPr>
              <a:t>10,000 trade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First patterns visible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417320"/>
            <a:ext cx="3474720" cy="201168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AA00"/>
                </a:solidFill>
              </a:rPr>
              <a:t>Month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965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FF88"/>
                </a:solidFill>
              </a:rPr>
              <a:t>100,000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4688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Statistically significant signals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17320"/>
            <a:ext cx="3474720" cy="201168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AA00"/>
                </a:solidFill>
              </a:rPr>
              <a:t>Month 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965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FF88"/>
                </a:solidFill>
              </a:rPr>
              <a:t>1,000,000+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4688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Proprietary intelligence. Institutions pay.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What gets built: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77639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• TimescaleDB time-series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77639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• Privacy-first anonymisation pipeline (GDPR/CCPA)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• ML pattern engine (scikit-learn → PyTorch)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5720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• Backtesting engine — replay any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66359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• Intelligence API — signals as a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166359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• Kafka/Redpanda streaming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HedgeIQ Confidential Strategy  |  April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04  18-Month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200400"/>
            <a:ext cx="11247120" cy="7315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" y="3063240"/>
            <a:ext cx="228600" cy="228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182879" y="1005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</a:rPr>
              <a:t>Apr '26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" y="1325880"/>
            <a:ext cx="18288" cy="17373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274320" y="3474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D4FF"/>
                </a:solidFill>
              </a:rPr>
              <a:t>v0.1 LIVE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3063240"/>
            <a:ext cx="228600" cy="228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2011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</a:rPr>
              <a:t>May–Jul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9384" y="2331720"/>
            <a:ext cx="18288" cy="7315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D4FF"/>
                </a:solidFill>
              </a:rPr>
              <a:t>v1.0 Multi-tenant</a:t>
            </a:r>
          </a:p>
        </p:txBody>
      </p:sp>
      <p:sp>
        <p:nvSpPr>
          <p:cNvPr id="13" name="Oval 12"/>
          <p:cNvSpPr/>
          <p:nvPr/>
        </p:nvSpPr>
        <p:spPr>
          <a:xfrm>
            <a:off x="3310128" y="3063240"/>
            <a:ext cx="228600" cy="22860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9776" y="1005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</a:rPr>
              <a:t>Jul–Sep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10712" y="1325880"/>
            <a:ext cx="18288" cy="17373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88336" y="3474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FF88"/>
                </a:solidFill>
              </a:rPr>
              <a:t>v2.0 Mobile &amp; Desktop</a:t>
            </a:r>
          </a:p>
        </p:txBody>
      </p:sp>
      <p:sp>
        <p:nvSpPr>
          <p:cNvPr id="17" name="Oval 16"/>
          <p:cNvSpPr/>
          <p:nvPr/>
        </p:nvSpPr>
        <p:spPr>
          <a:xfrm>
            <a:off x="4791456" y="3063240"/>
            <a:ext cx="228600" cy="228600"/>
          </a:xfrm>
          <a:prstGeom prst="ellipse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1104" y="2011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</a:rPr>
              <a:t>Sep–Dec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2331720"/>
            <a:ext cx="18288" cy="73152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9664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AA00"/>
                </a:solidFill>
              </a:rPr>
              <a:t>v3.0 Intelligence DB</a:t>
            </a:r>
          </a:p>
        </p:txBody>
      </p:sp>
      <p:sp>
        <p:nvSpPr>
          <p:cNvPr id="21" name="Oval 20"/>
          <p:cNvSpPr/>
          <p:nvPr/>
        </p:nvSpPr>
        <p:spPr>
          <a:xfrm>
            <a:off x="6272784" y="3063240"/>
            <a:ext cx="228600" cy="228600"/>
          </a:xfrm>
          <a:prstGeom prst="ellipse">
            <a:avLst/>
          </a:prstGeom>
          <a:solidFill>
            <a:srgbClr val="AA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2432" y="1005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</a:rPr>
              <a:t>Jan '27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3368" y="1325880"/>
            <a:ext cx="18288" cy="1737360"/>
          </a:xfrm>
          <a:prstGeom prst="rect">
            <a:avLst/>
          </a:prstGeom>
          <a:solidFill>
            <a:srgbClr val="AA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50992" y="3474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A88FF"/>
                </a:solidFill>
              </a:rPr>
              <a:t>v4.0 Social Platform</a:t>
            </a:r>
          </a:p>
        </p:txBody>
      </p:sp>
      <p:sp>
        <p:nvSpPr>
          <p:cNvPr id="25" name="Oval 24"/>
          <p:cNvSpPr/>
          <p:nvPr/>
        </p:nvSpPr>
        <p:spPr>
          <a:xfrm>
            <a:off x="7754112" y="3063240"/>
            <a:ext cx="228600" cy="228600"/>
          </a:xfrm>
          <a:prstGeom prst="ellipse">
            <a:avLst/>
          </a:prstGeom>
          <a:solidFill>
            <a:srgbClr val="FF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2011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</a:rPr>
              <a:t>Mar '27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54696" y="2331720"/>
            <a:ext cx="18288" cy="731520"/>
          </a:xfrm>
          <a:prstGeom prst="rect">
            <a:avLst/>
          </a:prstGeom>
          <a:solidFill>
            <a:srgbClr val="FF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6688"/>
                </a:solidFill>
              </a:rPr>
              <a:t>v5.0 HA / DR</a:t>
            </a:r>
          </a:p>
        </p:txBody>
      </p:sp>
      <p:sp>
        <p:nvSpPr>
          <p:cNvPr id="29" name="Oval 28"/>
          <p:cNvSpPr/>
          <p:nvPr/>
        </p:nvSpPr>
        <p:spPr>
          <a:xfrm>
            <a:off x="9235440" y="3063240"/>
            <a:ext cx="228600" cy="228600"/>
          </a:xfrm>
          <a:prstGeom prst="ellipse">
            <a:avLst/>
          </a:prstGeom>
          <a:solidFill>
            <a:srgbClr val="88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05088" y="1005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</a:rPr>
              <a:t>May '27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36024" y="1325880"/>
            <a:ext cx="18288" cy="1737360"/>
          </a:xfrm>
          <a:prstGeom prst="rect">
            <a:avLst/>
          </a:prstGeom>
          <a:solidFill>
            <a:srgbClr val="88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13648" y="3474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88FFCC"/>
                </a:solidFill>
              </a:rPr>
              <a:t>v6.0 White-Label Global</a:t>
            </a:r>
          </a:p>
        </p:txBody>
      </p:sp>
      <p:sp>
        <p:nvSpPr>
          <p:cNvPr id="33" name="Oval 32"/>
          <p:cNvSpPr/>
          <p:nvPr/>
        </p:nvSpPr>
        <p:spPr>
          <a:xfrm>
            <a:off x="10716768" y="3063240"/>
            <a:ext cx="228600" cy="22860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86416" y="2011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</a:rPr>
              <a:t>Sep '27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817352" y="2331720"/>
            <a:ext cx="18288" cy="7315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94976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FF88"/>
                </a:solidFill>
              </a:rPr>
              <a:t>Scale &amp; Monetise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D4FF"/>
                </a:solidFill>
              </a:rPr>
              <a:t>Total: 18 months to full white-label global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HedgeIQ Confidential Strategy  |  April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05  Investment &amp; Cost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Your build cost (Claude Code subscription)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760720" cy="5029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904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Phase 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490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12–15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904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</a:rPr>
              <a:t>~$30–60/mo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760720" cy="5029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Phase 3–4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0848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15–20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848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</a:rPr>
              <a:t>~$40–70/mo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06040"/>
            <a:ext cx="5760720" cy="5029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791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Phase 5–6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679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12–15 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791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</a:rPr>
              <a:t>~$30–60/mo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5760720" cy="502920"/>
          </a:xfrm>
          <a:prstGeom prst="rect">
            <a:avLst/>
          </a:prstGeom>
          <a:solidFill>
            <a:srgbClr val="00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735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</a:rPr>
              <a:t>Total 18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2735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AF0"/>
                </a:solidFill>
              </a:rPr>
              <a:t>77–97 sessions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2735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</a:rPr>
              <a:t>~$500–900 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960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A00"/>
                </a:solidFill>
              </a:rPr>
              <a:t>Infrastructure cost (per month)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417320"/>
            <a:ext cx="5120640" cy="5029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14904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Phase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4904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</a:rPr>
              <a:t>~$190/mo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011680"/>
            <a:ext cx="5120640" cy="5029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0848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0848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</a:rPr>
              <a:t>~$700/mo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606040"/>
            <a:ext cx="5120640" cy="5029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26791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Phase 5+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6791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</a:rPr>
              <a:t>~$2,500/mo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3200400"/>
            <a:ext cx="5120640" cy="5029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2735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Break-even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2735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</a:rPr>
              <a:t>9 partners @ $499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023360"/>
            <a:ext cx="11247120" cy="146304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The key insight: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526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A traditional dev team to build this platform = $500,000–$1,500,000.
Claude Code builds it for $500–$900. The savings fund your entire infrastructure for years.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88"/>
                </a:solidFill>
              </a:rPr>
              <a:t>At Phase 5+ scale ($2,500/mo infra), break-even requires just 9 white-label partners at $499/mo.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</a:rPr>
              <a:t>One enterprise client ($2,999/mo) pays infra costs alone.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HedgeIQ Confidential Strategy  |  April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06  Brokerage Expansion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</a:rPr>
              <a:t>Broker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960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</a:rPr>
              <a:t>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960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9601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</a:rPr>
              <a:t>Market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AF0"/>
                </a:solidFill>
              </a:rPr>
              <a:t>Robinhood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4447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88"/>
                </a:solidFill>
              </a:rPr>
              <a:t>✅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4447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SnapTrade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4447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25M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476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AF0"/>
                </a:solidFill>
              </a:rPr>
              <a:t>Fidelity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9476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88"/>
                </a:solidFill>
              </a:rPr>
              <a:t>✅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9476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SnapTrade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947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50M 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505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AF0"/>
                </a:solidFill>
              </a:rPr>
              <a:t>IBKR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4505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88"/>
                </a:solidFill>
              </a:rPr>
              <a:t>✅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4505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SnapTrade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450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3M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53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AF0"/>
                </a:solidFill>
              </a:rPr>
              <a:t>Public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9535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88"/>
                </a:solidFill>
              </a:rPr>
              <a:t>✅ 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9535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SnapTrade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9535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3M users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4564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AF0"/>
                </a:solidFill>
              </a:rPr>
              <a:t>Schwab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4564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D4FF"/>
                </a:solidFill>
              </a:rPr>
              <a:t>Phase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4564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SnapTrade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4564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35M users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9593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AF0"/>
                </a:solidFill>
              </a:rPr>
              <a:t>E*TRADE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39593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D4FF"/>
                </a:solidFill>
              </a:rPr>
              <a:t>Phase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9593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SnapTrade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9593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5M users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622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AF0"/>
                </a:solidFill>
              </a:rPr>
              <a:t>Moomoo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4622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D4FF"/>
                </a:solidFill>
              </a:rPr>
              <a:t>Phase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44622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SnapTrade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4622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21M users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9651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AF0"/>
                </a:solidFill>
              </a:rPr>
              <a:t>Webull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9651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AA00"/>
                </a:solidFill>
              </a:rPr>
              <a:t>Phase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49651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Direct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9651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15M users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4681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AF0"/>
                </a:solidFill>
              </a:rPr>
              <a:t>Zerodha 🇮🇳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54681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88FF"/>
                </a:solidFill>
              </a:rPr>
              <a:t>Phase 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54681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Direct 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4681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14M users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9710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AF0"/>
                </a:solidFill>
              </a:rPr>
              <a:t>Groww 🇮🇳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59710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88FF"/>
                </a:solidFill>
              </a:rPr>
              <a:t>Phase 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59710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Direct 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59710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10M users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D4FF"/>
                </a:solidFill>
              </a:rPr>
              <a:t>Total addressable market across all connected brokerages: 180M+ retail traders in the US alone.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HedgeIQ Confidential Strategy  |  April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07  The AI Autonomous Architect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</a:rPr>
              <a:t>Devin-style autonomy vs. Structured Claude sessions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303520" cy="36576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</a:rPr>
              <a:t>Capability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25880"/>
            <a:ext cx="2743200" cy="36576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CA3AF"/>
                </a:solidFill>
              </a:rPr>
              <a:t>Devin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325880"/>
            <a:ext cx="3017520" cy="36576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19" y="137160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</a:rPr>
              <a:t>Claude (Structured)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Write production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19" y="1874519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FF88"/>
                </a:solidFill>
              </a:rPr>
              <a:t>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31720"/>
            <a:ext cx="11247120" cy="50292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23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Run tests, fix failures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42316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FF88"/>
                </a:solidFill>
              </a:rPr>
              <a:t>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80360"/>
            <a:ext cx="11247120" cy="5029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71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Full repo awareness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297180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FF88"/>
                </a:solidFill>
              </a:rPr>
              <a:t>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429000"/>
            <a:ext cx="11247120" cy="50292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24/7 background 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520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19" y="352044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FF88"/>
                </a:solidFill>
              </a:rPr>
              <a:t>Scheduled sessions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977639"/>
            <a:ext cx="11247120" cy="5029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06907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Human intervention needed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069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</a:rPr>
              <a:t>Minimal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19" y="4069079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FF88"/>
                </a:solidFill>
              </a:rPr>
              <a:t>~15 min/session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26280"/>
            <a:ext cx="11247120" cy="50292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Self-directed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617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</a:rP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19" y="461772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FF88"/>
                </a:solidFill>
              </a:rPr>
              <a:t>With phase brief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74920"/>
            <a:ext cx="11247120" cy="5029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16635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Cost per month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51663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</a:rPr>
              <a:t>$500/mo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19" y="5166359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FF88"/>
                </a:solidFill>
              </a:rPr>
              <a:t>~$30–60/mo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760720"/>
            <a:ext cx="11247120" cy="685800"/>
          </a:xfrm>
          <a:prstGeom prst="rect">
            <a:avLst/>
          </a:prstGeom>
          <a:solidFill>
            <a:srgbClr val="00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83387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88"/>
                </a:solidFill>
              </a:rPr>
              <a:t>Recommendation: Structured Claude sessions give you 90% of Devin at 6% of the cost. Your time investment: ~15 minutes per session to review and approve. I handle everything else.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HedgeIQ Confidential Strategy  |  April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D4FF"/>
                </a:solidFill>
              </a:rPr>
              <a:t>07  How Autonomous Sessions Work in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0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0E1A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0332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Session Brief Generated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4475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At end of each session, I produce the next Session Brief: what to build, what exists, success criteria, test requirements. Self-contained.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00200"/>
            <a:ext cx="54864" cy="457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0E1A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30551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You Send One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4203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"Execute Session 8" — that's it. I read the brief, load the codebase, and start building.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697479"/>
            <a:ext cx="54864" cy="457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548640" cy="54864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0E1A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2278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A00"/>
                </a:solidFill>
              </a:rPr>
              <a:t>Autonomous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3931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I write code, run tests, fix failures, iterate. No back-and-forth. I only surface decisions that require your business judgement.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794760"/>
            <a:ext cx="54864" cy="457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297679"/>
            <a:ext cx="548640" cy="548640"/>
          </a:xfrm>
          <a:prstGeom prst="rect">
            <a:avLst/>
          </a:prstGeom>
          <a:solidFill>
            <a:srgbClr val="AA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976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0E1A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3251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88FF"/>
                </a:solidFill>
              </a:rPr>
              <a:t>Session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73659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I deliver: what was built, all tests passing, what's deployed, and the next Session Brief ready to go.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54864" cy="457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394960"/>
            <a:ext cx="548640" cy="54864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94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0E1A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4223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CA3AF"/>
                </a:solidFill>
              </a:rPr>
              <a:t>You Review (~15 min)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83387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Read the summary. Check the live URL. Say 'looks good, execute next session' or give one correction.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HedgeIQ Confidential Strategy  |  April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08  First Principles Risk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9601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9601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AF0"/>
                </a:solidFill>
              </a:rPr>
              <a:t>Technical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097280"/>
            <a:ext cx="1188720" cy="3200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097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0E1A"/>
                </a:solidFill>
              </a:rPr>
              <a:t>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115568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Every component is mature and production-proven. DDD architecture is designed to scale. No rewrites needed. Risk: 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11247120" cy="9601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54864" cy="96012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762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AF0"/>
                </a:solidFill>
              </a:rPr>
              <a:t>Regulatory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194560"/>
            <a:ext cx="1188720" cy="32004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194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0E1A"/>
                </a:solidFill>
              </a:rP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12848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Trading advice is regulated. HedgeIQ is a TOOL, not an advisor. No fiduciary relationship. Already mitigated: Claude always appends disclaimer. Maintain this line precisely.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11247120" cy="9601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54864" cy="9601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273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AF0"/>
                </a:solidFill>
              </a:rPr>
              <a:t>Data Privacy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3291840"/>
            <a:ext cx="118872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291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0E1A"/>
                </a:solidFill>
              </a:rPr>
              <a:t>LOW-MED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310128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Master DB must anonymise by design. GDPR/CCPA from day one. Privacy-first anonymisation pipeline in Phase 3. Not an afterthought.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97679"/>
            <a:ext cx="11247120" cy="9601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297679"/>
            <a:ext cx="54864" cy="96012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37083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AF0"/>
                </a:solidFill>
              </a:rPr>
              <a:t>Partner Acquisition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4389119"/>
            <a:ext cx="1188720" cy="32004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438911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0E1A"/>
                </a:solidFill>
              </a:rP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407407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The white-label model needs first 5 partners. This is a SALES problem, not technical. Your 25yr career in sales is the biggest asset here.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94960"/>
            <a:ext cx="11247120" cy="9601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394960"/>
            <a:ext cx="54864" cy="9601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4681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AF0"/>
                </a:solidFill>
              </a:rPr>
              <a:t>Competition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5486400"/>
            <a:ext cx="118872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0E1A"/>
                </a:solidFill>
              </a:rPr>
              <a:t>LOW-MED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504688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Bloomberg exists but costs $24K/yr/user. No AI-native, white-label, retail-focused competitor exists today. First-mover window is open.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HedgeIQ Confidential Strategy  |  April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09  Full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438912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69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</a:rPr>
              <a:t>Backend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69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FastAPI (Python)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0698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AF0"/>
                </a:solidFill>
              </a:rPr>
              <a:t>Already built, async, production-ready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85900"/>
            <a:ext cx="11247120" cy="438912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499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</a:rP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5499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PostgreSQL + TimescaleDB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5499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AF0"/>
                </a:solidFill>
              </a:rPr>
              <a:t>Relational + time-series in one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65960"/>
            <a:ext cx="11247120" cy="438912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29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</a:rPr>
              <a:t>Cache / Sessions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0299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Redis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0299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AF0"/>
                </a:solidFill>
              </a:rPr>
              <a:t>Rate limiting, real-time price cache, sessions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46020"/>
            <a:ext cx="11247120" cy="438912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5100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</a:rPr>
              <a:t>Streaming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5100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Redpanda (Kafka-compatible)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5100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AF0"/>
                </a:solidFill>
              </a:rPr>
              <a:t>Trade event pipeline, real-time signals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26080"/>
            <a:ext cx="11247120" cy="438912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990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</a:rPr>
              <a:t>ML /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990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scikit-learn → PyTorch + Claude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9900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AF0"/>
                </a:solidFill>
              </a:rPr>
              <a:t>Pattern recognition + natural language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06140"/>
            <a:ext cx="11247120" cy="438912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4701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</a:rPr>
              <a:t>Web 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4701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React 19 + Vite + Tailwind v4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4701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AF0"/>
                </a:solidFill>
              </a:rPr>
              <a:t>Already built and deployed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86200"/>
            <a:ext cx="11247120" cy="438912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950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</a:rPr>
              <a:t>Mobile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9502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React Native (Expo)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950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AF0"/>
                </a:solidFill>
              </a:rPr>
              <a:t>iOS + Android, shared codebase with web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366260"/>
            <a:ext cx="11247120" cy="438912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4302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</a:rPr>
              <a:t>Desktop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4302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Electron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4302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AF0"/>
                </a:solidFill>
              </a:rPr>
              <a:t>Mac + Windows, wraps web app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846320"/>
            <a:ext cx="11247120" cy="438912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910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</a:rPr>
              <a:t>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9103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Railway → AWS (at scale)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910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AF0"/>
                </a:solidFill>
              </a:rPr>
              <a:t>Start simple, migrate when revenue justifies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326380"/>
            <a:ext cx="11247120" cy="438912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3903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</a:rPr>
              <a:t>CDN / Security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53903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Cloudflare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53903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AF0"/>
                </a:solidFill>
              </a:rPr>
              <a:t>DDoS protection, WAF, global edge cache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806440"/>
            <a:ext cx="11247120" cy="438912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8704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</a:rPr>
              <a:t>Monitoring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5870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Grafana Cloud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5870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AF0"/>
                </a:solidFill>
              </a:rPr>
              <a:t>Metrics, alerts, SLA dashboards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286500"/>
            <a:ext cx="11247120" cy="438912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63505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</a:rPr>
              <a:t>CI/CD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26080" y="63505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</a:rPr>
              <a:t>GitHub Actions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63505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AF0"/>
                </a:solidFill>
              </a:rPr>
              <a:t>Automated test + deploy on every push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HedgeIQ Confidential Strategy  |  April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4466"/>
                </a:solidFill>
              </a:rPr>
              <a:t>05  HA / DR / 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05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EAF0"/>
                </a:solidFill>
              </a:rPr>
              <a:t>Cloudflare (DDoS · WAF · Global CDN)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005840"/>
            <a:ext cx="5943600" cy="411480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474720" cy="34747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47472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</a:rPr>
              <a:t>US-East  (Primary)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• FastAPI (2 replicas)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449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• PostgreSQL Primary/Replica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6674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• Redis Primary/Replica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8853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• ChromaDB cache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828800"/>
            <a:ext cx="3474720" cy="34747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828800"/>
            <a:ext cx="347472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</a:rPr>
              <a:t>US-West  (DR)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4231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• FastAPI (2 replicas)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0449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• PostgreSQL Primary/Replica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66674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• Redis Primary/Replica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28853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• ChromaDB cache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1828800"/>
            <a:ext cx="3474720" cy="34747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1828800"/>
            <a:ext cx="3474720" cy="54864"/>
          </a:xfrm>
          <a:prstGeom prst="rect">
            <a:avLst/>
          </a:prstGeom>
          <a:solidFill>
            <a:srgbClr val="AA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88FF"/>
                </a:solidFill>
              </a:rPr>
              <a:t>EU  (GDPR)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• FastAPI (2 replicas)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0449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• PostgreSQL Primary/Replica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66674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• Redis Primary/Replica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28853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• ChromaDB cache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D4FF"/>
                </a:solidFill>
              </a:rPr>
              <a:t>99.9% SLA · Automated failover · Quarterly DR tests · SOC 2 Type II prep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</a:rPr>
              <a:t>Phase 5 — Months 12–18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HedgeIQ Confidential Strategy  |  April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88FF"/>
                </a:solidFill>
              </a:rPr>
              <a:t>04  The Social Trading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</a:rPr>
              <a:t>Network effects: the platform gets more valuable as more traders join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30880" y="1219200"/>
            <a:ext cx="2286000" cy="59436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22319" y="1310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A88FF"/>
                </a:solidFill>
              </a:rPr>
              <a:t>More traders join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2438400"/>
            <a:ext cx="2286000" cy="59436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529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D4FF"/>
                </a:solidFill>
              </a:rPr>
              <a:t>More trades captured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4267200"/>
            <a:ext cx="2286000" cy="59436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4358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AA00"/>
                </a:solidFill>
              </a:rPr>
              <a:t>Master DB gets smarter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6879" y="4724400"/>
            <a:ext cx="2286000" cy="59436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98320" y="4815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FF88"/>
                </a:solidFill>
              </a:rPr>
              <a:t>Better signals &amp; patterns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-121920" y="3048000"/>
            <a:ext cx="2286000" cy="59436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-30479" y="3139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4466"/>
                </a:solidFill>
              </a:rPr>
              <a:t>More value for all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Social features: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74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• Trade Feed — anonymised real-time trades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223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• Leaderboards — best hedges this week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98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• Strategy sharing — publish and follow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173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• Community alerts — 23 traders just hedged this sector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648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• Expert badges — verified track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HedgeIQ Confidential Strategy  |  April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8FFCC"/>
                </a:solidFill>
              </a:rPr>
              <a:t>06  Global Expansion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11887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EAF0"/>
                </a:solidFill>
              </a:rPr>
              <a:t>🇺🇸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88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8FFCC"/>
                </a:solidFill>
              </a:rPr>
              <a:t>United States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459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Phase 1–5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28016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180M+ retail traders. FINRA/SEC compliant from v0.1. Primary market.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14630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FF88"/>
                </a:solidFill>
              </a:rPr>
              <a:t>TAM: $2B+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11247120" cy="11887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EAF0"/>
                </a:solidFill>
              </a:rPr>
              <a:t>🇮🇳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14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A00"/>
                </a:solidFill>
              </a:rPr>
              <a:t>India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71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Phase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60604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14M Zerodha + 10M Groww users. Fastest growing retail market globally. SEBI compliance.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788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FF88"/>
                </a:solidFill>
              </a:rPr>
              <a:t>TAM: $500M+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11247120" cy="11887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690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EAF0"/>
                </a:solidFill>
              </a:rPr>
              <a:t>🇬🇧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404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United Kingdom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976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Phase 6+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93192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FCA regulated. Strong retail options market. London as EU access point post-Brexit.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4114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FF88"/>
                </a:solidFill>
              </a:rPr>
              <a:t>TAM: $300M+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74920"/>
            <a:ext cx="11247120" cy="11887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39495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EAF0"/>
                </a:solidFill>
              </a:rPr>
              <a:t>🇪🇺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6635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A88FF"/>
                </a:solidFill>
              </a:rPr>
              <a:t>European Union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6235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Phase 6+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25780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MiFID II compliance. Germany, France, Netherlands largest markets. GDPR by design.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5440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FF88"/>
                </a:solidFill>
              </a:rPr>
              <a:t>TAM: $400M+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HedgeIQ Confidential Strategy  |  April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Summary Scorecard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00" cy="11887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18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to full white-label global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05840"/>
            <a:ext cx="5486400" cy="11887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548640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1430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FF88"/>
                </a:solidFill>
              </a:rPr>
              <a:t>6 phases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incremental — revenue possible from Phase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5486400" cy="11887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5486400" cy="54864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68879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AA00"/>
                </a:solidFill>
              </a:rPr>
              <a:t>$500–900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total Claude build cost (vs $1M+ dev team)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331720"/>
            <a:ext cx="5486400" cy="11887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331720"/>
            <a:ext cx="548640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468879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FF88"/>
                </a:solidFill>
              </a:rPr>
              <a:t>~$190/mo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632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infrastructure to start (Phase 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5486400" cy="11887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54864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947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9 partners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89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to break even on Phase 5+ infra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657600"/>
            <a:ext cx="5486400" cy="11887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657600"/>
            <a:ext cx="5486400" cy="54864"/>
          </a:xfrm>
          <a:prstGeom prst="rect">
            <a:avLst/>
          </a:prstGeom>
          <a:solidFill>
            <a:srgbClr val="AA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7947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88FF"/>
                </a:solidFill>
              </a:rPr>
              <a:t>180M+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389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addressable retail traders in the US alone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83479"/>
            <a:ext cx="5486400" cy="11887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983479"/>
            <a:ext cx="548640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1206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FF88"/>
                </a:solidFill>
              </a:rPr>
              <a:t>121 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1499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already passing — solid foundation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983479"/>
            <a:ext cx="5486400" cy="11887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4983479"/>
            <a:ext cx="54864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1206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~15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71499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0"/>
                </a:solidFill>
              </a:rPr>
              <a:t>your time per autonomous build session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HedgeIQ Confidential Strategy  |  April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10 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Immediate actions: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463040" cy="5029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A00"/>
                </a:solidFill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46304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Confirm Railway backend is live at /health endpoint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30552"/>
            <a:ext cx="1463040" cy="5029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219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A00"/>
                </a:solidFill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221992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Deploy frontend to Vercel, set VITE_API_URL to Railway URL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9504"/>
            <a:ext cx="1463040" cy="5029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809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A00"/>
                </a:solidFill>
              </a:rPr>
              <a:t>This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980944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Confirm end-to-end: login → Robinhood positions → hedge calculator → Claude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48456"/>
            <a:ext cx="1463040" cy="5029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398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A00"/>
                </a:solidFill>
              </a:rPr>
              <a:t>This week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739896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Upgrade Polygon to Starter ($29/mo) for live options chain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07408"/>
            <a:ext cx="1463040" cy="5029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4988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A00"/>
                </a:solidFill>
              </a:rPr>
              <a:t>Next week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498848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Kick off Session 7 — Phase 1 planning: PostgreSQL schema 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66359"/>
            <a:ext cx="1463040" cy="502920"/>
          </a:xfrm>
          <a:prstGeom prst="rect">
            <a:avLst/>
          </a:prstGeom>
          <a:solidFill>
            <a:srgbClr val="13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5779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A00"/>
                </a:solidFill>
              </a:rPr>
              <a:t>Month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257799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AF0"/>
                </a:solidFill>
              </a:rPr>
              <a:t>First white-label partner conversation (who do you know in financial advisory?)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89320"/>
            <a:ext cx="11247120" cy="640080"/>
          </a:xfrm>
          <a:prstGeom prst="rect">
            <a:avLst/>
          </a:prstGeom>
          <a:solidFill>
            <a:srgbClr val="00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080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FF88"/>
                </a:solidFill>
              </a:rPr>
              <a:t>"The best time to plant a tree was 20 years ago. The second best time is now."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